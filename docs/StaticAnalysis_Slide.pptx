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静态分析设计 — 高召回率候选点筛选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0B0C0"/>
                </a:solidFill>
                <a:latin typeface="Microsoft YaHei"/>
              </a:rPr>
              <a:t>设计原则：静态分析负责「不漏掉」，用确定性规则系统性地筛选可疑点，把语义判断留给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4EA8F6"/>
                </a:solidFill>
                <a:latin typeface="Microsoft YaHei"/>
              </a:rPr>
              <a:t>三类工具，按需选型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2423160" cy="214884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2423160" cy="41148"/>
          </a:xfrm>
          <a:prstGeom prst="roundRect">
            <a:avLst/>
          </a:prstGeom>
          <a:solidFill>
            <a:srgbClr val="F6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16152"/>
            <a:ext cx="2203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6A64E"/>
                </a:solidFill>
                <a:latin typeface="Microsoft YaHei"/>
              </a:rPr>
              <a:t>semgrep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0B0C0"/>
                </a:solidFill>
                <a:latin typeface="Microsoft YaHei"/>
              </a:rPr>
              <a:t>代码模式匹配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27632"/>
            <a:ext cx="220370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00" b="1">
                <a:solidFill>
                  <a:srgbClr val="B0B0C0"/>
                </a:solidFill>
                <a:latin typeface="Microsoft YaHei"/>
              </a:rPr>
              <a:t>适用  </a:t>
            </a:r>
            <a:r>
              <a:rPr sz="900" b="0">
                <a:solidFill>
                  <a:srgbClr val="E0E0EE"/>
                </a:solidFill>
                <a:latin typeface="Microsoft YaHei"/>
              </a:rPr>
              <a:t>漏洞有明确的语法结构模式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/>
            </a:r>
            <a:r>
              <a:rPr sz="900" b="1">
                <a:solidFill>
                  <a:srgbClr val="B0B0C0"/>
                </a:solidFill>
                <a:latin typeface="Microsoft YaHei"/>
              </a:rPr>
              <a:t>能力  </a:t>
            </a:r>
            <a:r>
              <a:rPr sz="900" b="0">
                <a:solidFill>
                  <a:srgbClr val="E0E0EE"/>
                </a:solidFill>
                <a:latin typeface="Microsoft YaHei"/>
              </a:rPr>
              <a:t>跨语句模式匹配，提取关键变量（metavar）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/>
            </a:r>
            <a:r>
              <a:rPr sz="900" b="1">
                <a:solidFill>
                  <a:srgbClr val="B0B0C0"/>
                </a:solidFill>
                <a:latin typeface="Microsoft YaHei"/>
              </a:rPr>
              <a:t>用于  </a:t>
            </a:r>
            <a:r>
              <a:rPr sz="900" b="0">
                <a:solidFill>
                  <a:srgbClr val="E0E0EE"/>
                </a:solidFill>
                <a:latin typeface="Microsoft YaHei"/>
              </a:rPr>
              <a:t>bufoverflow  double_free  intoverflow
safe_mem_oob  inf_loop  mp_npd
mp_resource_leak  loop_mut_idx_oob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143000"/>
            <a:ext cx="2423160" cy="214884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17520" y="1143000"/>
            <a:ext cx="2423160" cy="41148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7248" y="1216152"/>
            <a:ext cx="2203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EC9B0"/>
                </a:solidFill>
                <a:latin typeface="Microsoft YaHei"/>
              </a:rPr>
              <a:t>tree-sitter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0B0C0"/>
                </a:solidFill>
                <a:latin typeface="Microsoft YaHei"/>
              </a:rPr>
              <a:t>AST 结构提取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1627632"/>
            <a:ext cx="220370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00" b="1">
                <a:solidFill>
                  <a:srgbClr val="B0B0C0"/>
                </a:solidFill>
                <a:latin typeface="Microsoft YaHei"/>
              </a:rPr>
              <a:t>适用  </a:t>
            </a:r>
            <a:r>
              <a:rPr sz="900" b="0">
                <a:solidFill>
                  <a:srgbClr val="E0E0EE"/>
                </a:solidFill>
                <a:latin typeface="Microsoft YaHei"/>
              </a:rPr>
              <a:t>需要遍历函数体、提取变量、分析控制流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/>
            </a:r>
            <a:r>
              <a:rPr sz="900" b="1">
                <a:solidFill>
                  <a:srgbClr val="B0B0C0"/>
                </a:solidFill>
                <a:latin typeface="Microsoft YaHei"/>
              </a:rPr>
              <a:t>能力  </a:t>
            </a:r>
            <a:r>
              <a:rPr sz="900" b="0">
                <a:solidFill>
                  <a:srgbClr val="E0E0EE"/>
                </a:solidFill>
                <a:latin typeface="Microsoft YaHei"/>
              </a:rPr>
              <a:t>精确解析声明 / 解引用 / 分支 / 释放调用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/>
            </a:r>
            <a:r>
              <a:rPr sz="900" b="1">
                <a:solidFill>
                  <a:srgbClr val="B0B0C0"/>
                </a:solidFill>
                <a:latin typeface="Microsoft YaHei"/>
              </a:rPr>
              <a:t>用于  </a:t>
            </a:r>
            <a:r>
              <a:rPr sz="900" b="0">
                <a:solidFill>
                  <a:srgbClr val="E0E0EE"/>
                </a:solidFill>
                <a:latin typeface="Microsoft YaHei"/>
              </a:rPr>
              <a:t>npd  memleak  sensitive_clear
+ 所有 checker 的函数名反查兜底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1143000"/>
            <a:ext cx="2423160" cy="214884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77840" y="1143000"/>
            <a:ext cx="2423160" cy="41148"/>
          </a:xfrm>
          <a:prstGeom prst="roundRect">
            <a:avLst/>
          </a:prstGeom>
          <a:solidFill>
            <a:srgbClr val="B47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87568" y="1216152"/>
            <a:ext cx="2203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7EF6"/>
                </a:solidFill>
                <a:latin typeface="Microsoft YaHei"/>
              </a:rPr>
              <a:t>cppcheck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0B0C0"/>
                </a:solidFill>
                <a:latin typeface="Microsoft YaHei"/>
              </a:rPr>
              <a:t>数据流追踪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1627632"/>
            <a:ext cx="220370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00" b="1">
                <a:solidFill>
                  <a:srgbClr val="B0B0C0"/>
                </a:solidFill>
                <a:latin typeface="Microsoft YaHei"/>
              </a:rPr>
              <a:t>适用  </a:t>
            </a:r>
            <a:r>
              <a:rPr sz="900" b="0">
                <a:solidFill>
                  <a:srgbClr val="E0E0EE"/>
                </a:solidFill>
                <a:latin typeface="Microsoft YaHei"/>
              </a:rPr>
              <a:t>需要跨语句的分配-释放配对追踪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/>
            </a:r>
            <a:r>
              <a:rPr sz="900" b="1">
                <a:solidFill>
                  <a:srgbClr val="B0B0C0"/>
                </a:solidFill>
                <a:latin typeface="Microsoft YaHei"/>
              </a:rPr>
              <a:t>能力  </a:t>
            </a:r>
            <a:r>
              <a:rPr sz="900" b="0">
                <a:solidFill>
                  <a:srgbClr val="E0E0EE"/>
                </a:solidFill>
                <a:latin typeface="Microsoft YaHei"/>
              </a:rPr>
              <a:t>内置 malloc/fopen/socket 等标准资源模型
支持动态生成自定义分配函数库配置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/>
            </a:r>
            <a:r>
              <a:rPr sz="900" b="1">
                <a:solidFill>
                  <a:srgbClr val="B0B0C0"/>
                </a:solidFill>
                <a:latin typeface="Microsoft YaHei"/>
              </a:rPr>
              <a:t>用于  </a:t>
            </a:r>
            <a:r>
              <a:rPr sz="900" b="0">
                <a:solidFill>
                  <a:srgbClr val="E0E0EE"/>
                </a:solidFill>
                <a:latin typeface="Microsoft YaHei"/>
              </a:rPr>
              <a:t>resleak（全类型资源泄漏）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8686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4EA8F6"/>
                </a:solidFill>
                <a:latin typeface="Microsoft YaHei"/>
              </a:rPr>
              <a:t>关键设计策略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143000"/>
            <a:ext cx="3593592" cy="214884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75320" y="1225296"/>
            <a:ext cx="219456" cy="219456"/>
          </a:xfrm>
          <a:prstGeom prst="ellipse">
            <a:avLst/>
          </a:prstGeom>
          <a:solidFill>
            <a:srgbClr val="F6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120700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6A64E"/>
                </a:solidFill>
                <a:latin typeface="Microsoft YaHei"/>
              </a:rPr>
              <a:t>宁多勿漏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50" b="0">
                <a:solidFill>
                  <a:srgbClr val="E0E0EE"/>
                </a:solidFill>
                <a:latin typeface="Microsoft YaHei"/>
              </a:rPr>
              <a:t>静态分析目标是高召回率：宁可多报候选，
不能遗漏真实漏洞。精度由 AI 阶段保障</a:t>
            </a:r>
          </a:p>
        </p:txBody>
      </p:sp>
      <p:sp>
        <p:nvSpPr>
          <p:cNvPr id="21" name="Oval 20"/>
          <p:cNvSpPr/>
          <p:nvPr/>
        </p:nvSpPr>
        <p:spPr>
          <a:xfrm>
            <a:off x="8275320" y="1746504"/>
            <a:ext cx="219456" cy="219456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2" y="172821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EC9B0"/>
                </a:solidFill>
                <a:latin typeface="Microsoft YaHei"/>
              </a:rPr>
              <a:t>精准建模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50" b="0">
                <a:solidFill>
                  <a:srgbClr val="E0E0EE"/>
                </a:solidFill>
                <a:latin typeface="Microsoft YaHei"/>
              </a:rPr>
              <a:t>每种漏洞定义专属检测模式，而非通用规则。
如 bufoverflow 只匹配「结构体强转 + 长度
校验缺失」，不泛泛扫所有指针操作</a:t>
            </a:r>
          </a:p>
        </p:txBody>
      </p:sp>
      <p:sp>
        <p:nvSpPr>
          <p:cNvPr id="23" name="Oval 22"/>
          <p:cNvSpPr/>
          <p:nvPr/>
        </p:nvSpPr>
        <p:spPr>
          <a:xfrm>
            <a:off x="8275320" y="2267712"/>
            <a:ext cx="219456" cy="219456"/>
          </a:xfrm>
          <a:prstGeom prst="ellipse">
            <a:avLst/>
          </a:prstGeom>
          <a:solidFill>
            <a:srgbClr val="B47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7072" y="2249424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7EF6"/>
                </a:solidFill>
                <a:latin typeface="Microsoft YaHei"/>
              </a:rPr>
              <a:t>信息富集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50" b="0">
                <a:solidFill>
                  <a:srgbClr val="E0E0EE"/>
                </a:solidFill>
                <a:latin typeface="Microsoft YaHei"/>
              </a:rPr>
              <a:t>候选点不只是行号，还携带关键变量、匹配
模式分类、风险等级，为 AI 审计提供锚点</a:t>
            </a:r>
          </a:p>
        </p:txBody>
      </p:sp>
      <p:sp>
        <p:nvSpPr>
          <p:cNvPr id="25" name="Oval 24"/>
          <p:cNvSpPr/>
          <p:nvPr/>
        </p:nvSpPr>
        <p:spPr>
          <a:xfrm>
            <a:off x="8275320" y="2788920"/>
            <a:ext cx="219456" cy="219456"/>
          </a:xfrm>
          <a:prstGeom prst="ellipse">
            <a:avLst/>
          </a:prstGeom>
          <a:solidFill>
            <a:srgbClr val="56D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7072" y="277063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6D4E0"/>
                </a:solidFill>
                <a:latin typeface="Microsoft YaHei"/>
              </a:rPr>
              <a:t>多级去重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50" b="0">
                <a:solidFill>
                  <a:srgbClr val="E0E0EE"/>
                </a:solidFill>
                <a:latin typeface="Microsoft YaHei"/>
              </a:rPr>
              <a:t>按 (文件, 函数, 模式类型, 资源标识) 去重，
同一漏洞根因只产生一个候选点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4290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4EA8F6"/>
                </a:solidFill>
                <a:latin typeface="Microsoft YaHei"/>
              </a:rPr>
              <a:t>各 Checker 静态分析设计亮点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749039"/>
            <a:ext cx="2743200" cy="141732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" y="3749039"/>
            <a:ext cx="2743200" cy="41148"/>
          </a:xfrm>
          <a:prstGeom prst="roundRect">
            <a:avLst/>
          </a:prstGeom>
          <a:solidFill>
            <a:srgbClr val="F6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82219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6A64E"/>
                </a:solidFill>
                <a:latin typeface="Microsoft YaHei"/>
              </a:rPr>
              <a:t>bufoverflow</a:t>
            </a:r>
            <a:r>
              <a:rPr sz="900" b="0">
                <a:solidFill>
                  <a:srgbClr val="B0B0C0"/>
                </a:solidFill>
                <a:latin typeface="Microsoft YaHei"/>
              </a:rPr>
              <a:t>  semgrep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069079"/>
            <a:ext cx="2560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0EE"/>
                </a:solidFill>
                <a:latin typeface="Microsoft YaHei"/>
              </a:rPr>
              <a:t>匹配「结构体强转 + 字段访问 + 长度校验缺失」6 类子模式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00" b="0">
                <a:solidFill>
                  <a:srgbClr val="4EC9B0"/>
                </a:solidFill>
                <a:latin typeface="Microsoft YaHei"/>
              </a:rPr>
              <a:t/>
            </a:r>
            <a:r>
              <a:rPr sz="800" b="0">
                <a:solidFill>
                  <a:srgbClr val="F6A64E"/>
                </a:solidFill>
                <a:latin typeface="Microsoft YaHei"/>
              </a:rPr>
              <a:t>▸ </a:t>
            </a:r>
            <a:r>
              <a:rPr sz="800" b="0">
                <a:solidFill>
                  <a:srgbClr val="A0D8C0"/>
                </a:solidFill>
                <a:latin typeface="Microsoft YaHei"/>
              </a:rPr>
              <a:t>精准锁定协议解析场景：cast header → access field
而非泛泛扫描所有类型转换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37560" y="3749039"/>
            <a:ext cx="2743200" cy="141732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337560" y="3749039"/>
            <a:ext cx="2743200" cy="41148"/>
          </a:xfrm>
          <a:prstGeom prst="roundRect">
            <a:avLst/>
          </a:prstGeom>
          <a:solidFill>
            <a:srgbClr val="F6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29000" y="382219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6A64E"/>
                </a:solidFill>
                <a:latin typeface="Microsoft YaHei"/>
              </a:rPr>
              <a:t>double_free</a:t>
            </a:r>
            <a:r>
              <a:rPr sz="900" b="0">
                <a:solidFill>
                  <a:srgbClr val="B0B0C0"/>
                </a:solidFill>
                <a:latin typeface="Microsoft YaHei"/>
              </a:rPr>
              <a:t>  semgrep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4069079"/>
            <a:ext cx="2560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0EE"/>
                </a:solidFill>
                <a:latin typeface="Microsoft YaHei"/>
              </a:rPr>
              <a:t>14 条规则覆盖 7 类模板：goto 重复释放、浅拷贝析构、
智能指针双包装、所有权转移后调用方再释放...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00" b="0">
                <a:solidFill>
                  <a:srgbClr val="4EC9B0"/>
                </a:solidFill>
                <a:latin typeface="Microsoft YaHei"/>
              </a:rPr>
              <a:t/>
            </a:r>
            <a:r>
              <a:rPr sz="800" b="0">
                <a:solidFill>
                  <a:srgbClr val="F6A64E"/>
                </a:solidFill>
                <a:latin typeface="Microsoft YaHei"/>
              </a:rPr>
              <a:t>▸ </a:t>
            </a:r>
            <a:r>
              <a:rPr sz="800" b="0">
                <a:solidFill>
                  <a:srgbClr val="A0D8C0"/>
                </a:solidFill>
                <a:latin typeface="Microsoft YaHei"/>
              </a:rPr>
              <a:t>系统化分类 double-free 成因，每类一套专门规则
而非只匹配「两次 free 同一指针」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749039"/>
            <a:ext cx="2743200" cy="141732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17920" y="3749039"/>
            <a:ext cx="2743200" cy="41148"/>
          </a:xfrm>
          <a:prstGeom prst="roundRect">
            <a:avLst/>
          </a:prstGeom>
          <a:solidFill>
            <a:srgbClr val="F6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59" y="382219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6A64E"/>
                </a:solidFill>
                <a:latin typeface="Microsoft YaHei"/>
              </a:rPr>
              <a:t>intoverflow</a:t>
            </a:r>
            <a:r>
              <a:rPr sz="900" b="0">
                <a:solidFill>
                  <a:srgbClr val="B0B0C0"/>
                </a:solidFill>
                <a:latin typeface="Microsoft YaHei"/>
              </a:rPr>
              <a:t>  semgrep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59" y="4069079"/>
            <a:ext cx="2560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0EE"/>
                </a:solidFill>
                <a:latin typeface="Microsoft YaHei"/>
              </a:rPr>
              <a:t>检测算术运算结果流入危险 sink（分配大小 / 数组索引
/ 指针偏移 / 循环上界）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00" b="0">
                <a:solidFill>
                  <a:srgbClr val="4EC9B0"/>
                </a:solidFill>
                <a:latin typeface="Microsoft YaHei"/>
              </a:rPr>
              <a:t/>
            </a:r>
            <a:r>
              <a:rPr sz="800" b="0">
                <a:solidFill>
                  <a:srgbClr val="F6A64E"/>
                </a:solidFill>
                <a:latin typeface="Microsoft YaHei"/>
              </a:rPr>
              <a:t>▸ </a:t>
            </a:r>
            <a:r>
              <a:rPr sz="800" b="0">
                <a:solidFill>
                  <a:srgbClr val="A0D8C0"/>
                </a:solidFill>
                <a:latin typeface="Microsoft YaHei"/>
              </a:rPr>
              <a:t>要求「溢出 + 到达危险消费点」同时成立
排除大量无害的整数溢出噪声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98280" y="3749039"/>
            <a:ext cx="2743200" cy="141732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98280" y="3749039"/>
            <a:ext cx="2743200" cy="41148"/>
          </a:xfrm>
          <a:prstGeom prst="roundRect">
            <a:avLst/>
          </a:prstGeom>
          <a:solidFill>
            <a:srgbClr val="F6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89719" y="382219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6A64E"/>
                </a:solidFill>
                <a:latin typeface="Microsoft YaHei"/>
              </a:rPr>
              <a:t>safe_mem_oob</a:t>
            </a:r>
            <a:r>
              <a:rPr sz="900" b="0">
                <a:solidFill>
                  <a:srgbClr val="B0B0C0"/>
                </a:solidFill>
                <a:latin typeface="Microsoft YaHei"/>
              </a:rPr>
              <a:t>  semgrep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19" y="4069079"/>
            <a:ext cx="2560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0EE"/>
                </a:solidFill>
                <a:latin typeface="Microsoft YaHei"/>
              </a:rPr>
              <a:t>检测安全函数 dst/dstsz 几何关系不匹配：成员用父对象
大小、偏移后用原始大小、sizeof(ptr) 当容量...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00" b="0">
                <a:solidFill>
                  <a:srgbClr val="4EC9B0"/>
                </a:solidFill>
                <a:latin typeface="Microsoft YaHei"/>
              </a:rPr>
              <a:t/>
            </a:r>
            <a:r>
              <a:rPr sz="800" b="0">
                <a:solidFill>
                  <a:srgbClr val="F6A64E"/>
                </a:solidFill>
                <a:latin typeface="Microsoft YaHei"/>
              </a:rPr>
              <a:t>▸ </a:t>
            </a:r>
            <a:r>
              <a:rPr sz="800" b="0">
                <a:solidFill>
                  <a:srgbClr val="A0D8C0"/>
                </a:solidFill>
                <a:latin typeface="Microsoft YaHei"/>
              </a:rPr>
              <a:t>针对 memcpy_s / snprintf 等「看似安全」的函数
检测其 size 参数的隐蔽错误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257800"/>
            <a:ext cx="2743200" cy="141732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57200" y="5257800"/>
            <a:ext cx="2743200" cy="41148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3309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EC9B0"/>
                </a:solidFill>
                <a:latin typeface="Microsoft YaHei"/>
              </a:rPr>
              <a:t>npd</a:t>
            </a:r>
            <a:r>
              <a:rPr sz="900" b="0">
                <a:solidFill>
                  <a:srgbClr val="B0B0C0"/>
                </a:solidFill>
                <a:latin typeface="Microsoft YaHei"/>
              </a:rPr>
              <a:t>  tree-sitter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577840"/>
            <a:ext cx="2560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0EE"/>
                </a:solidFill>
                <a:latin typeface="Microsoft YaHei"/>
              </a:rPr>
              <a:t>提取所有解引用点（ptr-&gt;、*ptr、ptr[i]），正则过滤
已有 null-guard 的变量，只报告未保护的解引用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00" b="0">
                <a:solidFill>
                  <a:srgbClr val="4EC9B0"/>
                </a:solidFill>
                <a:latin typeface="Microsoft YaHei"/>
              </a:rPr>
              <a:t/>
            </a:r>
            <a:r>
              <a:rPr sz="800" b="0">
                <a:solidFill>
                  <a:srgbClr val="4EC9B0"/>
                </a:solidFill>
                <a:latin typeface="Microsoft YaHei"/>
              </a:rPr>
              <a:t>▸ </a:t>
            </a:r>
            <a:r>
              <a:rPr sz="800" b="0">
                <a:solidFill>
                  <a:srgbClr val="A0D8C0"/>
                </a:solidFill>
                <a:latin typeface="Microsoft YaHei"/>
              </a:rPr>
              <a:t>轻量级初筛：7 种 null-guard 模式匹配
大幅减少 AI 需要审查的候选量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37560" y="5257800"/>
            <a:ext cx="2743200" cy="141732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337560" y="5257800"/>
            <a:ext cx="2743200" cy="41148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29000" y="53309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EC9B0"/>
                </a:solidFill>
                <a:latin typeface="Microsoft YaHei"/>
              </a:rPr>
              <a:t>memleak</a:t>
            </a:r>
            <a:r>
              <a:rPr sz="900" b="0">
                <a:solidFill>
                  <a:srgbClr val="B0B0C0"/>
                </a:solidFill>
                <a:latin typeface="Microsoft YaHei"/>
              </a:rPr>
              <a:t>  tree-sitter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29000" y="5577840"/>
            <a:ext cx="2560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0EE"/>
                </a:solidFill>
                <a:latin typeface="Microsoft YaHei"/>
              </a:rPr>
              <a:t>分析函数内控制流：正常路径释放了资源，但某个错误
分支（return / goto / continue）遗漏了释放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00" b="0">
                <a:solidFill>
                  <a:srgbClr val="4EC9B0"/>
                </a:solidFill>
                <a:latin typeface="Microsoft YaHei"/>
              </a:rPr>
              <a:t/>
            </a:r>
            <a:r>
              <a:rPr sz="800" b="0">
                <a:solidFill>
                  <a:srgbClr val="4EC9B0"/>
                </a:solidFill>
                <a:latin typeface="Microsoft YaHei"/>
              </a:rPr>
              <a:t>▸ </a:t>
            </a:r>
            <a:r>
              <a:rPr sz="800" b="0">
                <a:solidFill>
                  <a:srgbClr val="A0D8C0"/>
                </a:solidFill>
                <a:latin typeface="Microsoft YaHei"/>
              </a:rPr>
              <a:t>专注最高频的泄漏模式——错误分支遗漏释放
而非做不切实际的全路径分析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0" y="5257800"/>
            <a:ext cx="2743200" cy="141732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217920" y="5257800"/>
            <a:ext cx="2743200" cy="41148"/>
          </a:xfrm>
          <a:prstGeom prst="roundRect">
            <a:avLst/>
          </a:prstGeom>
          <a:solidFill>
            <a:srgbClr val="F6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59" y="53309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6A64E"/>
                </a:solidFill>
                <a:latin typeface="Microsoft YaHei"/>
              </a:rPr>
              <a:t>mp_npd</a:t>
            </a:r>
            <a:r>
              <a:rPr sz="900" b="0">
                <a:solidFill>
                  <a:srgbClr val="B0B0C0"/>
                </a:solidFill>
                <a:latin typeface="Microsoft YaHei"/>
              </a:rPr>
              <a:t>  semgrep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59" y="5577840"/>
            <a:ext cx="2560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0EE"/>
                </a:solidFill>
                <a:latin typeface="Microsoft YaHei"/>
              </a:rPr>
              <a:t>检测多层指针链 ctx-&gt;session-&gt;buf 中间层未检查：
root 检查了但 root-&gt;session 未检查就解引用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00" b="0">
                <a:solidFill>
                  <a:srgbClr val="4EC9B0"/>
                </a:solidFill>
                <a:latin typeface="Microsoft YaHei"/>
              </a:rPr>
              <a:t/>
            </a:r>
            <a:r>
              <a:rPr sz="800" b="0">
                <a:solidFill>
                  <a:srgbClr val="F6A64E"/>
                </a:solidFill>
                <a:latin typeface="Microsoft YaHei"/>
              </a:rPr>
              <a:t>▸ </a:t>
            </a:r>
            <a:r>
              <a:rPr sz="800" b="0">
                <a:solidFill>
                  <a:srgbClr val="A0D8C0"/>
                </a:solidFill>
                <a:latin typeface="Microsoft YaHei"/>
              </a:rPr>
              <a:t>特化检测深层指针链——普通 NPD 工具的盲区
支持 4 层深度的指针链提取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098280" y="5257800"/>
            <a:ext cx="2743200" cy="141732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098280" y="5257800"/>
            <a:ext cx="2743200" cy="41148"/>
          </a:xfrm>
          <a:prstGeom prst="roundRect">
            <a:avLst/>
          </a:prstGeom>
          <a:solidFill>
            <a:srgbClr val="B47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89719" y="53309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B47EF6"/>
                </a:solidFill>
                <a:latin typeface="Microsoft YaHei"/>
              </a:rPr>
              <a:t>resleak</a:t>
            </a:r>
            <a:r>
              <a:rPr sz="900" b="0">
                <a:solidFill>
                  <a:srgbClr val="B0B0C0"/>
                </a:solidFill>
                <a:latin typeface="Microsoft YaHei"/>
              </a:rPr>
              <a:t>  cppcheck+正则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9719" y="5577840"/>
            <a:ext cx="2560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0EE"/>
                </a:solidFill>
                <a:latin typeface="Microsoft YaHei"/>
              </a:rPr>
              <a:t>Phase1: cppcheck + 动态生成自定义分配函数库配置
Phase2: 正则扫描 pthread 锁 / 信号量 / 线程句柄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00" b="0">
                <a:solidFill>
                  <a:srgbClr val="4EC9B0"/>
                </a:solidFill>
                <a:latin typeface="Microsoft YaHei"/>
              </a:rPr>
              <a:t/>
            </a:r>
            <a:r>
              <a:rPr sz="800" b="0">
                <a:solidFill>
                  <a:srgbClr val="B47EF6"/>
                </a:solidFill>
                <a:latin typeface="Microsoft YaHei"/>
              </a:rPr>
              <a:t>▸ </a:t>
            </a:r>
            <a:r>
              <a:rPr sz="800" b="0">
                <a:solidFill>
                  <a:srgbClr val="A0D8C0"/>
                </a:solidFill>
                <a:latin typeface="Microsoft YaHei"/>
              </a:rPr>
              <a:t>自动推断项目中的包装分配函数（调用 malloc
的内部函数），减少手动配置负担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
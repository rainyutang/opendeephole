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插件式 Checker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  <a:latin typeface="Microsoft YaHei"/>
              </a:rPr>
              <a:t>每种漏洞类型是一个独立插件，新增检测能力零代码改动、无需重启服务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插件目录结构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57600" cy="27432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0"/>
                </a:solidFill>
                <a:latin typeface="Microsoft YaHei"/>
              </a:rPr>
              <a:t>checkers/bufoverflow/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F6A64E"/>
                </a:solidFill>
                <a:latin typeface="Microsoft YaHei"/>
              </a:rPr>
              <a:t>  ├── checker.yaml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声明名称、类别、模式、启用状态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4EC9B0"/>
                </a:solidFill>
                <a:latin typeface="Microsoft YaHei"/>
              </a:rPr>
              <a:t>  ├── analyzer.py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静态分析器 — 提取候选漏洞点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4EA8F6"/>
                </a:solidFill>
                <a:latin typeface="Microsoft YaHei"/>
              </a:rPr>
              <a:t>  ├── SKILL.md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AI 审查指引（opencode 模式）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47EF6"/>
                </a:solidFill>
                <a:latin typeface="Microsoft YaHei"/>
              </a:rPr>
              <a:t>  ├── prompt.txt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LLM 系统提示词（api 模式）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56D4E0"/>
                </a:solidFill>
                <a:latin typeface="Microsoft YaHei"/>
              </a:rPr>
              <a:t>  ├── *.yml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semgrep 规则文件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└── references/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       辅助资料（符号链接到工作区）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868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自动发现机制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657600" cy="27432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80" y="1316736"/>
            <a:ext cx="237744" cy="237744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98448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6A64E"/>
                </a:solidFill>
                <a:latin typeface="Microsoft YaHei"/>
              </a:rPr>
              <a:t>扫描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遍历 checkers/ 目录下所有子目录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1975103"/>
            <a:ext cx="237744" cy="237744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56815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C9B0"/>
                </a:solidFill>
                <a:latin typeface="Microsoft YaHei"/>
              </a:rPr>
              <a:t>加载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读取 checker.yaml 元数据
确定模式（opencode / api）、类别、可见性</a:t>
            </a:r>
          </a:p>
        </p:txBody>
      </p:sp>
      <p:sp>
        <p:nvSpPr>
          <p:cNvPr id="13" name="Oval 12"/>
          <p:cNvSpPr/>
          <p:nvPr/>
        </p:nvSpPr>
        <p:spPr>
          <a:xfrm>
            <a:off x="4526280" y="2633472"/>
            <a:ext cx="237744" cy="237744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15184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EA8F6"/>
                </a:solidFill>
                <a:latin typeface="Microsoft YaHei"/>
              </a:rPr>
              <a:t>导入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动态 import analyzer.py（如有）
加载 Analyzer 类，无需注册代码</a:t>
            </a:r>
          </a:p>
        </p:txBody>
      </p:sp>
      <p:sp>
        <p:nvSpPr>
          <p:cNvPr id="15" name="Oval 14"/>
          <p:cNvSpPr/>
          <p:nvPr/>
        </p:nvSpPr>
        <p:spPr>
          <a:xfrm>
            <a:off x="4526280" y="3291840"/>
            <a:ext cx="237744" cy="237744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73552"/>
            <a:ext cx="3063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47EF6"/>
                </a:solidFill>
                <a:latin typeface="Microsoft YaHei"/>
              </a:rPr>
              <a:t>就绪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注册到全局字典，按 name 键索引
扫描创建时实时刷新，无需重启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86868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设计优势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188720"/>
            <a:ext cx="3410712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188720"/>
            <a:ext cx="3410712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25272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零耦合扩展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新增漏洞类型只需添加目录
不触碰框架代码、不影响已有 checker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874519"/>
            <a:ext cx="3410712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874519"/>
            <a:ext cx="3410712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9385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独立演进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每个 checker 的规则、SKILL、分析器
可以独立迭代，互不干扰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560320"/>
            <a:ext cx="3410712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0" y="2560320"/>
            <a:ext cx="3410712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26243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7EF6"/>
                </a:solidFill>
                <a:latin typeface="Microsoft YaHei"/>
              </a:rPr>
              <a:t>灵活配置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enabled / visibility / category
运行时控制启用、可见性、分类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246120"/>
            <a:ext cx="3410712" cy="5943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3246120"/>
            <a:ext cx="3410712" cy="41148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3101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8F6"/>
                </a:solidFill>
                <a:latin typeface="Microsoft YaHei"/>
              </a:rPr>
              <a:t>双模式支持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opencode 模式：AI CLI + SKILL 交互式审计
api 模式：LLM API + prompt 直接调用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当前支持的漏洞检测类型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34840"/>
            <a:ext cx="2743200" cy="21945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" y="4434840"/>
            <a:ext cx="2743200" cy="41148"/>
          </a:xfrm>
          <a:prstGeom prst="roundRect">
            <a:avLst/>
          </a:prstGeom>
          <a:solidFill>
            <a:srgbClr val="F6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5079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66E6E"/>
                </a:solidFill>
                <a:latin typeface="Microsoft YaHei"/>
              </a:rPr>
              <a:t>越界访问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8006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F66E6E"/>
                </a:solidFill>
                <a:latin typeface="Microsoft YaHei"/>
              </a:rPr>
              <a:t>  bufoverflow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结构体强转越界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6E6E"/>
                </a:solidFill>
                <a:latin typeface="Microsoft YaHei"/>
              </a:rPr>
              <a:t>  safe_mem_oob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安全函数越界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6E6E"/>
                </a:solidFill>
                <a:latin typeface="Microsoft YaHei"/>
              </a:rPr>
              <a:t>  intoverflow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整数溢出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6E6E"/>
                </a:solidFill>
                <a:latin typeface="Microsoft YaHei"/>
              </a:rPr>
              <a:t>  loop_mut_idx_oob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循环索引越界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434840"/>
            <a:ext cx="2743200" cy="21945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44348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5079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6A64E"/>
                </a:solidFill>
                <a:latin typeface="Microsoft YaHei"/>
              </a:rPr>
              <a:t>非法内存使用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8006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F6A64E"/>
                </a:solidFill>
                <a:latin typeface="Microsoft YaHei"/>
              </a:rPr>
              <a:t>  npd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空指针解引用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A64E"/>
                </a:solidFill>
                <a:latin typeface="Microsoft YaHei"/>
              </a:rPr>
              <a:t>  mp_npd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多层指针空指针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A64E"/>
                </a:solidFill>
                <a:latin typeface="Microsoft YaHei"/>
              </a:rPr>
              <a:t>  double_free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双重释放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F6A64E"/>
                </a:solidFill>
                <a:latin typeface="Microsoft YaHei"/>
              </a:rPr>
              <a:t>  sensitive_clear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敏感信息未清零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434840"/>
            <a:ext cx="2743200" cy="21945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7920" y="4434840"/>
            <a:ext cx="274320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5079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EC9B0"/>
                </a:solidFill>
                <a:latin typeface="Microsoft YaHei"/>
              </a:rPr>
              <a:t>资源泄漏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8006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4EC9B0"/>
                </a:solidFill>
                <a:latin typeface="Microsoft YaHei"/>
              </a:rPr>
              <a:t>  memleak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内存泄漏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4EC9B0"/>
                </a:solidFill>
                <a:latin typeface="Microsoft YaHei"/>
              </a:rPr>
              <a:t>  mp_resource_leak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多层指针资源泄漏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/>
            </a:r>
            <a:r>
              <a:rPr sz="1100" b="1">
                <a:solidFill>
                  <a:srgbClr val="4EC9B0"/>
                </a:solidFill>
                <a:latin typeface="Microsoft YaHei"/>
              </a:rPr>
              <a:t>  resleak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全类型资源泄漏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280" y="4434840"/>
            <a:ext cx="2743200" cy="21945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98280" y="4434840"/>
            <a:ext cx="2743200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4507992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47EF6"/>
                </a:solidFill>
                <a:latin typeface="Microsoft YaHei"/>
              </a:rPr>
              <a:t>控制流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80060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100" b="1">
                <a:solidFill>
                  <a:srgbClr val="B47EF6"/>
                </a:solidFill>
                <a:latin typeface="Microsoft YaHei"/>
              </a:rPr>
              <a:t>  inf_loop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死循环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静态分析设计 — 高召回率候选点筛选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  <a:latin typeface="Microsoft YaHei"/>
              </a:rPr>
              <a:t>设计原则：静态分析负责「不漏掉」，用确定性规则系统性筛选可疑点，把语义判断留给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三类工具，按需选型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70432"/>
            <a:ext cx="2423160" cy="1874519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70432"/>
            <a:ext cx="242316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52728"/>
            <a:ext cx="2203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A64E"/>
                </a:solidFill>
                <a:latin typeface="Microsoft YaHei"/>
              </a:rPr>
              <a:t>semgrep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代码模式匹配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22037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适用  漏洞有明确的语法结构模式
能力  跨语句模式匹配，提取关键变量
用于  bufoverflow  double_free  intoverflow
        safe_mem_oob  inf_loop  mp_npd
        mp_resource_leak  loop_mut_idx_oob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170432"/>
            <a:ext cx="2423160" cy="1874519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7520" y="1170432"/>
            <a:ext cx="242316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1252728"/>
            <a:ext cx="2203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EC9B0"/>
                </a:solidFill>
                <a:latin typeface="Microsoft YaHei"/>
              </a:rPr>
              <a:t>tree-sitter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AST 结构提取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1572768"/>
            <a:ext cx="22037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适用  需要遍历函数体、提取变量、分析控制流
能力  精确解析声明 / 解引用 / 分支 / 释放
用于  npd  memleak  sensitive_clear
        + 所有 checker 的函数名反查兜底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1170432"/>
            <a:ext cx="2423160" cy="1874519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1170432"/>
            <a:ext cx="2423160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252728"/>
            <a:ext cx="2203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7EF6"/>
                </a:solidFill>
                <a:latin typeface="Microsoft YaHei"/>
              </a:rPr>
              <a:t>cppcheck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0B0C0"/>
                </a:solidFill>
                <a:latin typeface="Microsoft YaHei"/>
              </a:rPr>
              <a:t>数据流追踪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1572768"/>
            <a:ext cx="2203704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适用  需要跨语句的分配-释放配对追踪
能力  内置标准资源模型 + 动态自定义配置
用于  resleak（全类型资源泄漏）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868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关键设计策略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70432"/>
            <a:ext cx="3593592" cy="1874519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1243584"/>
            <a:ext cx="219456" cy="219456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122529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宁多勿漏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高召回率：宁可多报候选，不能遗漏真实漏洞
精度由 AI 阶段保障</a:t>
            </a:r>
          </a:p>
        </p:txBody>
      </p:sp>
      <p:sp>
        <p:nvSpPr>
          <p:cNvPr id="21" name="Oval 20"/>
          <p:cNvSpPr/>
          <p:nvPr/>
        </p:nvSpPr>
        <p:spPr>
          <a:xfrm>
            <a:off x="8275320" y="1682496"/>
            <a:ext cx="219456" cy="219456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1664208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精准建模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每种漏洞定义专属检测模式
如 bufoverflow 只匹配「强转 + 校验缺失」</a:t>
            </a:r>
          </a:p>
        </p:txBody>
      </p:sp>
      <p:sp>
        <p:nvSpPr>
          <p:cNvPr id="23" name="Oval 22"/>
          <p:cNvSpPr/>
          <p:nvPr/>
        </p:nvSpPr>
        <p:spPr>
          <a:xfrm>
            <a:off x="8275320" y="2121408"/>
            <a:ext cx="219456" cy="219456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7072" y="2103120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47EF6"/>
                </a:solidFill>
                <a:latin typeface="Microsoft YaHei"/>
              </a:rPr>
              <a:t>信息富集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候选点携带关键变量、模式分类、风险等级
为 AI 审计提供判断锚点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2560320"/>
            <a:ext cx="219456" cy="219456"/>
          </a:xfrm>
          <a:prstGeom prst="ellipse">
            <a:avLst/>
          </a:prstGeom>
          <a:solidFill>
            <a:srgbClr val="56D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7072" y="2542032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6D4E0"/>
                </a:solidFill>
                <a:latin typeface="Microsoft YaHei"/>
              </a:rPr>
              <a:t>多级去重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按 (文件, 函数, 模式, 资源标识) 去重
同一漏洞根因只产生一个候选点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2004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各 Checker 静态分析设计亮点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204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35204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bufoverflow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22191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匹配「结构体强转 + 字段访问 + 长度校验缺失」6 类子模式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精准锁定协议解析场景——cast header → access field，而非泛扫所有类型转换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5204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7560" y="35204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double_free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3822191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14 条规则覆盖 7 类模板：goto 重复释放、浅拷贝析构、
智能指针双包装、所有权转移后调用方再释放...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系统化分类成因，每类专门规则，而非只匹配「两次 free 同一指针」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5204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35204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intoverflow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3822191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检测算术运算结果流入危险 sink（分配大小 / 数组索引
/ 指针偏移 / 循环上界）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要求「溢出 + 到达危险消费点」同时成立，排除无害溢出噪声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5204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98280" y="35204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35844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safe_mem_oob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3822191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检测安全函数 dst/dstsz 几何关系不匹配：成员用父对象
大小、偏移后用原始大小、sizeof(ptr) 当容量...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针对 memcpy_s / snprintf 等「看似安全」函数的隐蔽 size 错误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1206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57200" y="5120640"/>
            <a:ext cx="274320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npd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tree-sitter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422392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提取所有解引用点（ptr-&gt;、*ptr、ptr[i]），正则过滤
已有 null-guard 的变量，只报告未保护的解引用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4EC9B0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7 种 null-guard 模式匹配做初筛，大幅减少 AI 审查候选量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37560" y="51206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337560" y="5120640"/>
            <a:ext cx="2743200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EC9B0"/>
                </a:solidFill>
                <a:latin typeface="Microsoft YaHei"/>
              </a:rPr>
              <a:t>memleak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tree-sitter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29000" y="5422392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分析函数内控制流：正常路径释放了资源，但某个错误
分支（return / goto / continue）遗漏了释放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4EC9B0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专注最高频泄漏模式——错误分支遗漏释放，而非全路径分析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7920" y="51206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17920" y="5120640"/>
            <a:ext cx="2743200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6A64E"/>
                </a:solidFill>
                <a:latin typeface="Microsoft YaHei"/>
              </a:rPr>
              <a:t>mp_npd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semgrep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422392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检测多层指针链 ctx-&gt;session-&gt;buf 中间层未检查：
root 检查了但 root-&gt;session 未检查就解引用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F6A64E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特化检测深层指针链——普通 NPD 工具的盲区，支持 4 层深度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98280" y="5120640"/>
            <a:ext cx="2743200" cy="150876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098280" y="5120640"/>
            <a:ext cx="2743200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19" y="518464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7EF6"/>
                </a:solidFill>
                <a:latin typeface="Microsoft YaHei"/>
              </a:rPr>
              <a:t>resleak</a:t>
            </a:r>
            <a:r>
              <a:rPr sz="900" b="0">
                <a:solidFill>
                  <a:srgbClr val="B0B0C0"/>
                </a:solidFill>
                <a:latin typeface="Microsoft YaHei"/>
              </a:rPr>
              <a:t>  cppcheck+正则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19" y="5422392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0EE"/>
                </a:solidFill>
                <a:latin typeface="Microsoft YaHei"/>
              </a:rPr>
              <a:t>Phase1: cppcheck + 动态生成自定义分配函数库配置
Phase2: 正则扫描 pthread 锁 / 信号量 / 线程句柄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850" b="0">
                <a:solidFill>
                  <a:srgbClr val="A0D8C0"/>
                </a:solidFill>
                <a:latin typeface="Microsoft YaHei"/>
              </a:rPr>
              <a:t/>
            </a:r>
            <a:r>
              <a:rPr sz="850" b="0">
                <a:solidFill>
                  <a:srgbClr val="B47EF6"/>
                </a:solidFill>
                <a:latin typeface="Microsoft YaHei"/>
              </a:rPr>
              <a:t>▸ </a:t>
            </a:r>
            <a:r>
              <a:rPr sz="850" b="0">
                <a:solidFill>
                  <a:srgbClr val="A0D8C0"/>
                </a:solidFill>
                <a:latin typeface="Microsoft YaHei"/>
              </a:rPr>
              <a:t>自动推断包装分配函数（调用 malloc 的内部函数），减少手动配置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SKILL — 结构化的 AI 审计方法论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  <a:latin typeface="Microsoft YaHei"/>
              </a:rPr>
              <a:t>不是让 AI 泛泛「找漏洞」，而是为每种漏洞类型提供系统化的审查指引和判断标准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SKILL 四大设计要点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486400" cy="1261872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4864" cy="41148"/>
          </a:xfrm>
          <a:prstGeom prst="round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" cy="1261872"/>
          </a:xfrm>
          <a:prstGeom prst="rect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6A64E"/>
                </a:solidFill>
                <a:latin typeface="Microsoft YaHei"/>
              </a:rPr>
              <a:t>反向验证思维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大量篇幅教 AI 识别「隐藏的保护机制」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宏展开中的 NULL 检查（CHECK_NULL、BUG_ON、assert）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构造函数 / 初始化函数保证的不变量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所有权转移语义（SendMsg 后调用方不再持有）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RAII / 智能指针 / scope guard 自动管理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F6A64E"/>
                </a:solidFill>
                <a:latin typeface="Microsoft YaHei"/>
              </a:rPr>
              <a:t>→ 先找「不是漏洞的证据」再下结论，控制误报的关键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60320"/>
            <a:ext cx="5486400" cy="1261872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2560320"/>
            <a:ext cx="54864" cy="4114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4864" cy="126187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39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C9B0"/>
                </a:solidFill>
                <a:latin typeface="Microsoft YaHei"/>
              </a:rPr>
              <a:t>分类验证清单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每种漏洞分解为多个子规则，逐条验证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bufoverflow 6 类规则各有专属验证步骤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double_free 7 类模板对应 7 套判断标准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每条规则明确：什么情况确认、什么情况排除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4EC9B0"/>
                </a:solidFill>
                <a:latin typeface="Microsoft YaHei"/>
              </a:rPr>
              <a:t>→ 确保系统性覆盖，避免 AI 凭「感觉」遗漏场景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1261872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54864" cy="41148"/>
          </a:xfrm>
          <a:prstGeom prst="round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4864" cy="1261872"/>
          </a:xfrm>
          <a:prstGeom prst="rect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39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47EF6"/>
                </a:solidFill>
                <a:latin typeface="Microsoft YaHei"/>
              </a:rPr>
              <a:t>严重性分级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不是简单的有/无漏洞，按可利用性分级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3367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high — 外部输入可控且必经路径可触发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medium — 特定内部状态或受限输入可触发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low — 极端边界条件、理论上可触发但实际罕见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B47EF6"/>
                </a:solidFill>
                <a:latin typeface="Microsoft YaHei"/>
              </a:rPr>
              <a:t>→ 帮助用户优先处理真正危险的漏洞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03520"/>
            <a:ext cx="5486400" cy="1261872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54864" cy="41148"/>
          </a:xfrm>
          <a:prstGeom prst="round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03520"/>
            <a:ext cx="54864" cy="1261872"/>
          </a:xfrm>
          <a:prstGeom prst="rect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5120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A8F6"/>
                </a:solidFill>
                <a:latin typeface="Microsoft YaHei"/>
              </a:rPr>
              <a:t>MCP 工具集成</a:t>
            </a:r>
            <a:r>
              <a:rPr sz="1000" b="0">
                <a:solidFill>
                  <a:srgbClr val="B0B0C0"/>
                </a:solidFill>
                <a:latin typeface="Microsoft YaHei"/>
              </a:rPr>
              <a:t>  AI 可主动调用代码查询工具追踪上下文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05272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0EE"/>
                </a:solidFill>
                <a:latin typeface="Microsoft YaHei"/>
              </a:rPr>
              <a:t>read_file — 读取任意源文件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find_function / view_function_code — 查看函数实现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find_function_references — 追踪调用链和使用点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view_struct_code — 查看结构体定义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1">
                <a:solidFill>
                  <a:srgbClr val="4EA8F6"/>
                </a:solidFill>
                <a:latin typeface="Microsoft YaHei"/>
              </a:rPr>
              <a:t>→ AI 不只看局部片段，能跨文件追踪完整数据流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868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SKILL 文件结构示例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188720"/>
            <a:ext cx="5486400" cy="310896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2344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EA8F6"/>
                </a:solidFill>
                <a:latin typeface="Microsoft YaHei"/>
              </a:rPr>
              <a:t># bufoverflow-audit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6A64E"/>
                </a:solidFill>
                <a:latin typeface="Microsoft YaHei"/>
              </a:rPr>
              <a:t>## 你的角色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你是一位 C/C++ 缓冲区越界漏洞审计专家...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6A64E"/>
                </a:solidFill>
                <a:latin typeface="Microsoft YaHei"/>
              </a:rPr>
              <a:t>## 可用工具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D4E0"/>
                </a:solidFill>
                <a:latin typeface="Microsoft YaHei"/>
              </a:rPr>
              <a:t>- read_file(project_id, path)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D4E0"/>
                </a:solidFill>
                <a:latin typeface="Microsoft YaHei"/>
              </a:rPr>
              <a:t>- view_function_code(project_id, function_name)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D4E0"/>
                </a:solidFill>
                <a:latin typeface="Microsoft YaHei"/>
              </a:rPr>
              <a:t>- find_function_references(project_id, function_name)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D4E0"/>
                </a:solidFill>
                <a:latin typeface="Microsoft YaHei"/>
              </a:rPr>
              <a:t>- view_struct_code(project_id, struct_name)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6D4E0"/>
                </a:solidFill>
                <a:latin typeface="Microsoft YaHei"/>
              </a:rPr>
              <a:t>- submit_result(result_id, confirmed, severity, ...)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6A64E"/>
                </a:solidFill>
                <a:latin typeface="Microsoft YaHei"/>
              </a:rPr>
              <a:t>## 分析步骤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1. 阅读完整函数体（候选只展示匹配行）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2. 查看结构体定义（填充、柔性数组、大小校验）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3. 按规则类型执行对应的验证流程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4. 查找「隐藏」的校验（宏、辅助函数、调用者约定）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5. 向上追踪调用链，确认缓冲区来源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6. 判断攻击者可控性 → 确定严重性等级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6A64E"/>
                </a:solidFill>
                <a:latin typeface="Microsoft YaHei"/>
              </a:rPr>
              <a:t>## 规则类型验证指引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- struct-cast-field-access-without-min-size-check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  → 检查 sizeof(header) 校验是否在字段访问之前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- variable-tail-member-index-without-full-bound-check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  → 检查完整的尾部边界校验（不仅是头部长度）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EC9B0"/>
                </a:solidFill>
                <a:latin typeface="Microsoft YaHei"/>
              </a:rPr>
              <a:t>## 历史用户经验 ← 反馈注入点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- 用户理由：此处 CHECK_HEADER_LEN 宏已做校验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  ```c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  函数源码快照...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  ```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4348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AI 审计流程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754880"/>
            <a:ext cx="5486400" cy="192024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00800" y="4937760"/>
            <a:ext cx="1371600" cy="77724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1100" b="1">
                <a:solidFill>
                  <a:srgbClr val="F6A64E"/>
                </a:solidFill>
                <a:latin typeface="Microsoft YaHei"/>
              </a:rPr>
              <a:t>候选漏洞点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静态分析产出
含关键变量信息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937760"/>
            <a:ext cx="1645920" cy="77724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1100" b="1">
                <a:solidFill>
                  <a:srgbClr val="4EC9B0"/>
                </a:solidFill>
                <a:latin typeface="Microsoft YaHei"/>
              </a:rPr>
              <a:t>加载 SKILL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审查指引 + 验证清单
+ 历史用户经验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4937760"/>
            <a:ext cx="1371600" cy="77724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A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1100" b="1">
                <a:solidFill>
                  <a:srgbClr val="4EA8F6"/>
                </a:solidFill>
                <a:latin typeface="Microsoft YaHei"/>
              </a:rPr>
              <a:t>深度审查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AI 调用 MCP 工具
追踪上下文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18120" y="5212080"/>
            <a:ext cx="274320" cy="22860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9829800" y="5212080"/>
            <a:ext cx="274320" cy="22860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5897880"/>
            <a:ext cx="228600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F6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1100" b="1">
                <a:solidFill>
                  <a:srgbClr val="F66E6E"/>
                </a:solidFill>
                <a:latin typeface="Microsoft YaHei"/>
              </a:rPr>
              <a:t>确认漏洞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严重性分级 + 详细分析
high: 外部可控  medium: 受限  low: 罕见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897880"/>
            <a:ext cx="2560320" cy="640080"/>
          </a:xfrm>
          <a:prstGeom prst="roundRect">
            <a:avLst/>
          </a:prstGeom>
          <a:solidFill>
            <a:srgbClr val="303050"/>
          </a:solidFill>
          <a:ln w="1905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tIns="50800"/>
          <a:lstStyle/>
          <a:p>
            <a:pPr algn="ctr"/>
            <a:r>
              <a:rPr sz="1100" b="1">
                <a:solidFill>
                  <a:srgbClr val="4EC9B0"/>
                </a:solidFill>
                <a:latin typeface="Microsoft YaHei"/>
              </a:rPr>
              <a:t>排除误报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明确说明排除理由
宏保护 / 不变量 / 所有权转移 / 不可达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7498079" y="5742432"/>
            <a:ext cx="228600" cy="182880"/>
          </a:xfrm>
          <a:prstGeom prst="down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9784080" y="5742432"/>
            <a:ext cx="228600" cy="182880"/>
          </a:xfrm>
          <a:prstGeom prst="down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AI 去误报闭环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0B0C0"/>
                </a:solidFill>
                <a:latin typeface="Microsoft YaHei"/>
              </a:rPr>
              <a:t>从用户审查经验中学习，持续降低误报率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传统方式 vs OpenDeepHole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14600" cy="1554480"/>
          </a:xfrm>
          <a:prstGeom prst="roundRect">
            <a:avLst/>
          </a:prstGeom>
          <a:solidFill>
            <a:srgbClr val="35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6E6E"/>
                </a:solidFill>
                <a:latin typeface="Microsoft YaHei"/>
              </a:rPr>
              <a:t>传统工具  suppress / whitelist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按行号或规则名抑制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✕ 仅对同一位置生效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✕ 相似代码换个位置还会重复报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✕ 不记录「为什么是误报」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B0B0C0"/>
                </a:solidFill>
                <a:latin typeface="Microsoft YaHei"/>
              </a:rPr>
              <a:t>✕ 无法泛化到新代码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188720"/>
            <a:ext cx="2514600" cy="155448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34440"/>
            <a:ext cx="2240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OpenDeepHole  语义级先例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000" b="0">
                <a:solidFill>
                  <a:srgbClr val="E0E0EE"/>
                </a:solidFill>
                <a:latin typeface="Microsoft YaHei"/>
              </a:rPr>
              <a:t>用户标记 + 原因 + 代码快照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✓ 注入 AI 审查上下文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✓ AI 理解「这类模式为什么不是漏洞」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✓ 能泛化到相似但不同位置的代码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A0D8C0"/>
                </a:solidFill>
                <a:latin typeface="Microsoft YaHei"/>
              </a:rPr>
              <a:t>✓ 反馈可选择性注入，避免干扰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868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反馈闭环流程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155448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2103120" cy="594360"/>
          </a:xfrm>
          <a:prstGeom prst="roundRect">
            <a:avLst/>
          </a:prstGeom>
          <a:solidFill>
            <a:srgbClr val="303050"/>
          </a:solidFill>
          <a:ln w="12700">
            <a:solidFill>
              <a:srgbClr val="F6A6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353312"/>
            <a:ext cx="195681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6A64E"/>
                </a:solidFill>
                <a:latin typeface="Microsoft YaHei"/>
              </a:rPr>
              <a:t>1  用户审查结果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标记 confirmed / false_positive
填写原因说明，系统快照函数源码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97480" cy="594360"/>
          </a:xfrm>
          <a:prstGeom prst="roundRect">
            <a:avLst/>
          </a:prstGeom>
          <a:solidFill>
            <a:srgbClr val="303050"/>
          </a:solidFill>
          <a:ln w="12700">
            <a:solidFill>
              <a:srgbClr val="56D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1353312"/>
            <a:ext cx="2551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6D4E0"/>
                </a:solidFill>
                <a:latin typeface="Microsoft YaHei"/>
              </a:rPr>
              <a:t>2  反馈存入数据库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按 (project_id, vuln_type) 索引
保留 verdict + reason + function_source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11680"/>
            <a:ext cx="2103120" cy="594360"/>
          </a:xfrm>
          <a:prstGeom prst="roundRect">
            <a:avLst/>
          </a:prstGeom>
          <a:solidFill>
            <a:srgbClr val="303050"/>
          </a:solidFill>
          <a:ln w="12700">
            <a:solidFill>
              <a:srgbClr val="4E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39112"/>
            <a:ext cx="1956815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C9B0"/>
                </a:solidFill>
                <a:latin typeface="Microsoft YaHei"/>
              </a:rPr>
              <a:t>3  注入下次扫描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选择的反馈合并到 SKILL.md
「历史用户经验」章节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011680"/>
            <a:ext cx="2697480" cy="594360"/>
          </a:xfrm>
          <a:prstGeom prst="roundRect">
            <a:avLst/>
          </a:prstGeom>
          <a:solidFill>
            <a:srgbClr val="303050"/>
          </a:solidFill>
          <a:ln w="12700">
            <a:solidFill>
              <a:srgbClr val="B47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2039112"/>
            <a:ext cx="2551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47EF6"/>
                </a:solidFill>
                <a:latin typeface="Microsoft YaHei"/>
              </a:rPr>
              <a:t>4  AI 参考先例判断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AI 看到同类代码的先例和理由
对新的相似代码做出更准确判断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49640" y="1481328"/>
            <a:ext cx="228600" cy="182880"/>
          </a:xfrm>
          <a:prstGeom prst="righ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10515600" y="1938528"/>
            <a:ext cx="182880" cy="109728"/>
          </a:xfrm>
          <a:prstGeom prst="down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 Arrow 20"/>
          <p:cNvSpPr/>
          <p:nvPr/>
        </p:nvSpPr>
        <p:spPr>
          <a:xfrm>
            <a:off x="8549640" y="2167128"/>
            <a:ext cx="228600" cy="182880"/>
          </a:xfrm>
          <a:prstGeom prst="leftArrow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反馈数据结构与注入格式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46120"/>
            <a:ext cx="2514600" cy="33832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6A64E"/>
                </a:solidFill>
                <a:latin typeface="Microsoft YaHei"/>
              </a:rPr>
              <a:t>FeedbackEntry 数据模型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verdict    confirmed | false_positive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reason     用户填写的判断理由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function_source  函数源码快照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vuln_type  漏洞类型（匹配 checker）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file / line / function  位置信息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850" b="0">
                <a:solidFill>
                  <a:srgbClr val="E0E0EE"/>
                </a:solidFill>
                <a:latin typeface="Microsoft YaHei"/>
              </a:rPr>
              <a:t>source_scan_id  来源扫描 ID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00" b="1">
                <a:solidFill>
                  <a:srgbClr val="4EC9B0"/>
                </a:solidFill>
                <a:latin typeface="Microsoft YaHei"/>
              </a:rPr>
              <a:t>设计要点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快照函数源码而非只记录行号：
代码变更后 AI 仍能理解原始上下文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>记录 verdict + reason：
AI 不仅知道结论，还知道为什么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246120"/>
            <a:ext cx="2514600" cy="3383280"/>
          </a:xfrm>
          <a:prstGeom prst="roundRect">
            <a:avLst/>
          </a:prstGeom>
          <a:solidFill>
            <a:srgbClr val="30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3291840"/>
            <a:ext cx="2240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C9B0"/>
                </a:solidFill>
                <a:latin typeface="Microsoft YaHei"/>
              </a:rPr>
              <a:t>注入 SKILL 后的格式</a:t>
            </a:r>
            <a:r>
              <a:rPr sz="900" b="1">
                <a:solidFill>
                  <a:srgbClr val="4EC9B0"/>
                </a:solidFill>
                <a:latin typeface="Microsoft YaHei"/>
              </a:rPr>
              <a:t>## 历史用户经验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以下是用户在审计过程中选择注入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的经验，分析时应结合这些经验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校验结论：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- 用户理由：此处 CHECK_LEN 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  已在第 42 行做了完整校验，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A0D8C0"/>
                </a:solidFill>
                <a:latin typeface="Microsoft YaHei"/>
              </a:rPr>
              <a:t>  包含 sizeof(header) 的比较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  ```c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int parse_packet(char *buf,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                 size_t len)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  CHECK_LEN(buf, len,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    sizeof(struct hdr));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  struct hdr *h 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    (struct hdr *)buf;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    ...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E0E0EE"/>
                </a:solidFill>
                <a:latin typeface="Microsoft YaHei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0B0C0"/>
                </a:solidFill>
                <a:latin typeface="Microsoft YaHei"/>
              </a:rPr>
              <a:t>  ```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二次 FP Review 机制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246120"/>
            <a:ext cx="5486400" cy="1828800"/>
          </a:xfrm>
          <a:prstGeom prst="roundRect">
            <a:avLst/>
          </a:prstGeom>
          <a:solidFill>
            <a:srgbClr val="2A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B47EF6"/>
                </a:solidFill>
                <a:latin typeface="Microsoft YaHei"/>
              </a:rPr>
              <a:t>对已确认漏洞的独立复核——AI 做「同行评审」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611880"/>
            <a:ext cx="201168" cy="201168"/>
          </a:xfrm>
          <a:prstGeom prst="ellipse">
            <a:avLst/>
          </a:prstGeom>
          <a:solidFill>
            <a:srgbClr val="F6A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5935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A64E"/>
                </a:solidFill>
                <a:latin typeface="Microsoft YaHei"/>
              </a:rPr>
              <a:t>触发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扫描完成后，用户对已确认结果发起 FP Review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3959352"/>
            <a:ext cx="201168" cy="201168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394106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EC9B0"/>
                </a:solidFill>
                <a:latin typeface="Microsoft YaHei"/>
              </a:rPr>
              <a:t>独立 SKILL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使用专门的 fp-review SKILL，不同于原始审计 SKILL
关注点从「找漏洞」转为「验证漏洞是否真实」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306824"/>
            <a:ext cx="201168" cy="201168"/>
          </a:xfrm>
          <a:prstGeom prst="ellipse">
            <a:avLst/>
          </a:prstGeom>
          <a:solidFill>
            <a:srgbClr val="4EA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428853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EA8F6"/>
                </a:solidFill>
                <a:latin typeface="Microsoft YaHei"/>
              </a:rPr>
              <a:t>反馈增强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同样注入历史用户反馈，但角色不同：
原始审计关注「这里可能有漏洞吗」
复核关注「这个已确认的漏洞是否可信」</a:t>
            </a:r>
          </a:p>
        </p:txBody>
      </p:sp>
      <p:sp>
        <p:nvSpPr>
          <p:cNvPr id="36" name="Oval 35"/>
          <p:cNvSpPr/>
          <p:nvPr/>
        </p:nvSpPr>
        <p:spPr>
          <a:xfrm>
            <a:off x="6446520" y="4654296"/>
            <a:ext cx="201168" cy="201168"/>
          </a:xfrm>
          <a:prstGeom prst="ellipse">
            <a:avLst/>
          </a:prstGeom>
          <a:solidFill>
            <a:srgbClr val="B47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6360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47EF6"/>
                </a:solidFill>
                <a:latin typeface="Microsoft YaHei"/>
              </a:rPr>
              <a:t>输出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verdict: tp（确认）/ fp（误报）
对 high 严重性生成完整漏洞报告（调用链 + 利用条件 + 修复建议）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2120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4EA8F6"/>
                </a:solidFill>
                <a:latin typeface="Microsoft YaHei"/>
              </a:rPr>
              <a:t>为什么有效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486400"/>
            <a:ext cx="5486400" cy="1143000"/>
          </a:xfrm>
          <a:prstGeom prst="roundRect">
            <a:avLst/>
          </a:prstGeom>
          <a:solidFill>
            <a:srgbClr val="203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53212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6A64E"/>
                </a:solidFill>
                <a:latin typeface="Microsoft YaHei"/>
              </a:rPr>
              <a:t>语义级泛化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传统 suppress 按行号生效，反馈先例按代码模式生效——
AI 能泛化到新的、相似但不同位置的代码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1000" b="1">
                <a:solidFill>
                  <a:srgbClr val="4EC9B0"/>
                </a:solidFill>
                <a:latin typeface="Microsoft YaHei"/>
              </a:rPr>
              <a:t>双重审计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原始审计 + FP Review 两轮独立判断，显著降低漏报和误报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E0E0EE"/>
                </a:solidFill>
                <a:latin typeface="Microsoft YaHei"/>
              </a:rPr>
              <a:t/>
            </a:r>
            <a:r>
              <a:rPr sz="1000" b="1">
                <a:solidFill>
                  <a:srgbClr val="B47EF6"/>
                </a:solidFill>
                <a:latin typeface="Microsoft YaHei"/>
              </a:rPr>
              <a:t>持续改进  </a:t>
            </a:r>
            <a:r>
              <a:rPr sz="850" b="0">
                <a:solidFill>
                  <a:srgbClr val="E0E0EE"/>
                </a:solidFill>
                <a:latin typeface="Microsoft YaHei"/>
              </a:rPr>
              <a:t>反馈越多 → SKILL 越丰富 → AI 判断越准 → 用户越信任 → 更多反馈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
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SKILL 与 AI 审计设计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B0C0"/>
                </a:solidFill>
                <a:latin typeface="Microsoft YaHei"/>
              </a:rPr>
              <a:t>两种调用模式适配不同场景，SKILL 提供结构化审查方法论，反馈闭环实现持续改进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两种 AI 调用模式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84048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" cy="1508760"/>
          </a:xfrm>
          <a:prstGeom prst="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6A64E"/>
                </a:solidFill>
                <a:latin typeface="Microsoft YaHei"/>
              </a:rPr>
              <a:t>OpenCode 模式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AI CLI 交互式审计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3312"/>
            <a:ext cx="100584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F6A64E"/>
                </a:solidFill>
                <a:latin typeface="Microsoft YaHei"/>
              </a:rPr>
              <a:t>候选点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静态分析产出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91640" y="1463040"/>
            <a:ext cx="182880" cy="164592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20240" y="1353312"/>
            <a:ext cx="109728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F6A64E"/>
                </a:solidFill>
                <a:latin typeface="Microsoft YaHei"/>
              </a:rPr>
              <a:t>AI CLI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nga/opencode/
claude/hac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1463040"/>
            <a:ext cx="182880" cy="164592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1353312"/>
            <a:ext cx="82296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F6A64E"/>
                </a:solidFill>
                <a:latin typeface="Microsoft YaHei"/>
              </a:rPr>
              <a:t>结论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submit_result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AI CLI 加载 SKILL.md 作为技能指引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通过 MCP Server 提供代码查询工具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AI 可主动追踪调用链、查看结构体定义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适合需要深度上下文探索的复杂漏洞类型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384048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45720" cy="1508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EC9B0"/>
                </a:solidFill>
                <a:latin typeface="Microsoft YaHei"/>
              </a:rPr>
              <a:t>API 直调模式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LLM API + Function Calling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99232"/>
            <a:ext cx="100584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4EC9B0"/>
                </a:solidFill>
                <a:latin typeface="Microsoft YaHei"/>
              </a:rPr>
              <a:t>候选点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含函数源码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691640" y="3108960"/>
            <a:ext cx="182880" cy="164592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20240" y="2999232"/>
            <a:ext cx="109728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4EC9B0"/>
                </a:solidFill>
                <a:latin typeface="Microsoft YaHei"/>
              </a:rPr>
              <a:t>LLM API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OpenAI 兼容
function calling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63240" y="3108960"/>
            <a:ext cx="182880" cy="164592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91840" y="2999232"/>
            <a:ext cx="822960" cy="4572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900" b="1">
                <a:solidFill>
                  <a:srgbClr val="4EC9B0"/>
                </a:solidFill>
                <a:latin typeface="Microsoft YaHei"/>
              </a:rPr>
              <a:t>结论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700" b="0">
                <a:solidFill>
                  <a:srgbClr val="B0B0C0"/>
                </a:solidFill>
                <a:latin typeface="Microsoft YaHei"/>
              </a:rPr>
              <a:t>submit_result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prompt.txt 作为系统提示词，含判定标准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function calling 提供 view_function / view_struct / submit_result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single_pass 模式可跳过查询工具，一次性判断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适合判断逻辑明确、上下文充分的漏洞类型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43400"/>
            <a:ext cx="3840480" cy="77724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70832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解决的问题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不同漏洞类型对 AI 上下文需求不同：复杂的（bufoverflow）需要多轮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交互追踪，简单的（memleak）函数体内即可判断——两种模式各取所长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API 不可用时自动降级到 CLI 模式，保证可用性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77724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SKILL 结构化审查设计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1051560"/>
            <a:ext cx="3749039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1051560"/>
            <a:ext cx="45720" cy="914400"/>
          </a:xfrm>
          <a:prstGeom prst="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107899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反向验证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先找「不是漏洞」的证据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1280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教 AI 识别隐藏保护机制：宏里的 NULL 检查、
构造函数不变量、所有权转移、RAII 托管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00" b="0">
                <a:solidFill>
                  <a:srgbClr val="A0D8C0"/>
                </a:solidFill>
                <a:latin typeface="Microsoft YaHei"/>
              </a:rPr>
              <a:t>解决  AI 默认倾向于报漏洞，直接问「有没有
漏洞」误报率极高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057400"/>
            <a:ext cx="3749039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2057400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084831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分类清单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按子规则逐条验证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2286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bufoverflow 6 类强转规则各有验证步骤
double_free 7 类模板对应 7 套判断标准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00" b="0">
                <a:solidFill>
                  <a:srgbClr val="A0D8C0"/>
                </a:solidFill>
                <a:latin typeface="Microsoft YaHei"/>
              </a:rPr>
              <a:t>解决  泛泛说「找漏洞」缺乏系统性，AI 容易
遗漏或过度关注某一类模式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063240"/>
            <a:ext cx="3749039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3063240"/>
            <a:ext cx="45720" cy="914400"/>
          </a:xfrm>
          <a:prstGeom prst="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309067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47EF6"/>
                </a:solidFill>
                <a:latin typeface="Microsoft YaHei"/>
              </a:rPr>
              <a:t>分级标准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按可利用性分 high/medium/low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3291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high: 外部输入可控 + 必经路径
medium: 受限输入 / 特定状态
low: 极端边界条件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00" b="0">
                <a:solidFill>
                  <a:srgbClr val="A0D8C0"/>
                </a:solidFill>
                <a:latin typeface="Microsoft YaHei"/>
              </a:rPr>
              <a:t>解决  传统工具只报有/无，不区分优先级
用户无法判断先修哪个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4069080"/>
            <a:ext cx="3749039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26280" y="4069080"/>
            <a:ext cx="45720" cy="9144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409651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A8F6"/>
                </a:solidFill>
                <a:latin typeface="Microsoft YaHei"/>
              </a:rPr>
              <a:t>工具指引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声明可用的 MCP 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4297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read_file / find_function / find_references
view_struct_code / submit_result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00" b="0">
                <a:solidFill>
                  <a:srgbClr val="A0D8C0"/>
                </a:solidFill>
                <a:latin typeface="Microsoft YaHei"/>
              </a:rPr>
              <a:t>解决  AI 只看局部代码片段，无法追踪跨文件
调用链和数据流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5120640"/>
            <a:ext cx="3749039" cy="41148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148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EC9B0"/>
                </a:solidFill>
                <a:latin typeface="Microsoft YaHei"/>
              </a:rPr>
              <a:t>核心理念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SKILL 不是 prompt，是方法论——把人类审计专家的经验编码为可复用的结构化指引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777240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反馈闭环去误报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1051560"/>
            <a:ext cx="1508760" cy="1188720"/>
          </a:xfrm>
          <a:prstGeom prst="roundRect">
            <a:avLst/>
          </a:prstGeom>
          <a:solidFill>
            <a:srgbClr val="3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1078992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6E6E"/>
                </a:solidFill>
                <a:latin typeface="Microsoft YaHei"/>
              </a:rPr>
              <a:t>传统方式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suppress / whitelist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✕ 按行号抑制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✕ 不记录原因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✕ 无法泛化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49840" y="1051560"/>
            <a:ext cx="1600200" cy="118872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22992" y="1078992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9B0"/>
                </a:solidFill>
                <a:latin typeface="Microsoft YaHei"/>
              </a:rPr>
              <a:t>OpenDeepHole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语义级先例注入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✓ 记录原因 + 代码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✓ 注入 AI 上下文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✓ 泛化到新代码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2377440"/>
            <a:ext cx="3246120" cy="2148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2404872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D4E0"/>
                </a:solidFill>
                <a:latin typeface="Microsoft YaHei"/>
              </a:rPr>
              <a:t>反馈流转</a:t>
            </a:r>
          </a:p>
        </p:txBody>
      </p:sp>
      <p:sp>
        <p:nvSpPr>
          <p:cNvPr id="51" name="Oval 50"/>
          <p:cNvSpPr/>
          <p:nvPr/>
        </p:nvSpPr>
        <p:spPr>
          <a:xfrm>
            <a:off x="8613648" y="2651760"/>
            <a:ext cx="201168" cy="201168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26334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6A64E"/>
                </a:solidFill>
                <a:latin typeface="Microsoft YaHei"/>
              </a:rPr>
              <a:t>用户标记结果  </a:t>
            </a:r>
            <a:r>
              <a:rPr sz="800" b="0">
                <a:solidFill>
                  <a:srgbClr val="E0E0EE"/>
                </a:solidFill>
                <a:latin typeface="Microsoft YaHei"/>
              </a:rPr>
              <a:t>confirmed / false_positive + 原因
系统快照函数源码</a:t>
            </a:r>
          </a:p>
        </p:txBody>
      </p:sp>
      <p:sp>
        <p:nvSpPr>
          <p:cNvPr id="53" name="Oval 52"/>
          <p:cNvSpPr/>
          <p:nvPr/>
        </p:nvSpPr>
        <p:spPr>
          <a:xfrm>
            <a:off x="8613648" y="3108960"/>
            <a:ext cx="201168" cy="201168"/>
          </a:xfrm>
          <a:prstGeom prst="ellipse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30906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6D4E0"/>
                </a:solidFill>
                <a:latin typeface="Microsoft YaHei"/>
              </a:rPr>
              <a:t>存入反馈库  </a:t>
            </a:r>
            <a:r>
              <a:rPr sz="800" b="0">
                <a:solidFill>
                  <a:srgbClr val="E0E0EE"/>
                </a:solidFill>
                <a:latin typeface="Microsoft YaHei"/>
              </a:rPr>
              <a:t>按 (project, vuln_type) 索引
保留 verdict + reason + source</a:t>
            </a:r>
          </a:p>
        </p:txBody>
      </p:sp>
      <p:sp>
        <p:nvSpPr>
          <p:cNvPr id="55" name="Oval 54"/>
          <p:cNvSpPr/>
          <p:nvPr/>
        </p:nvSpPr>
        <p:spPr>
          <a:xfrm>
            <a:off x="8613648" y="3566160"/>
            <a:ext cx="201168" cy="201168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35478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4EC9B0"/>
                </a:solidFill>
                <a:latin typeface="Microsoft YaHei"/>
              </a:rPr>
              <a:t>注入下次扫描  </a:t>
            </a:r>
            <a:r>
              <a:rPr sz="800" b="0">
                <a:solidFill>
                  <a:srgbClr val="E0E0EE"/>
                </a:solidFill>
                <a:latin typeface="Microsoft YaHei"/>
              </a:rPr>
              <a:t>合并到 SKILL「历史用户经验」
用户可选择注入哪些反馈</a:t>
            </a:r>
          </a:p>
        </p:txBody>
      </p:sp>
      <p:sp>
        <p:nvSpPr>
          <p:cNvPr id="57" name="Oval 56"/>
          <p:cNvSpPr/>
          <p:nvPr/>
        </p:nvSpPr>
        <p:spPr>
          <a:xfrm>
            <a:off x="8613648" y="4023359"/>
            <a:ext cx="201168" cy="201168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40050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7EF6"/>
                </a:solidFill>
                <a:latin typeface="Microsoft YaHei"/>
              </a:rPr>
              <a:t>AI 参考判断  </a:t>
            </a:r>
            <a:r>
              <a:rPr sz="800" b="0">
                <a:solidFill>
                  <a:srgbClr val="E0E0EE"/>
                </a:solidFill>
                <a:latin typeface="Microsoft YaHei"/>
              </a:rPr>
              <a:t>看到同类代码的先例和理由
泛化到相似的新代码位置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4663440"/>
            <a:ext cx="3246120" cy="11887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03920" y="4663440"/>
            <a:ext cx="45720" cy="1188720"/>
          </a:xfrm>
          <a:prstGeom prst="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2" y="46908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47EF6"/>
                </a:solidFill>
                <a:latin typeface="Microsoft YaHei"/>
              </a:rPr>
              <a:t>二次 FP Review — AI 同行评审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68512" y="48920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扫描完成后对已确认漏洞发起独立复核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使用专门的 fp-review SKILL，关注点从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「找漏洞」转为「验证漏洞是否真实」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同样注入历史反馈，但审查角色不同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high 严重性生成完整漏洞报告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B0B0C0"/>
                </a:solidFill>
                <a:latin typeface="Microsoft YaHei"/>
              </a:rPr>
              <a:t>（调用链 + 利用条件 + 修复建议）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257800"/>
            <a:ext cx="7589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设计解决的核心问题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532120"/>
            <a:ext cx="2468880" cy="11887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" y="5532120"/>
            <a:ext cx="2468880" cy="36576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59612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AI 怎么调用？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两种模式适配不同场景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8064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复杂漏洞（bufoverflow、double_free）需要多轮交互追踪上下文 → OpenCode 模式
判断明确的漏洞（memleak）函数体内即可判断 → API 直调模式，更快更省 token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63240" y="5532120"/>
            <a:ext cx="2468880" cy="11887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063240" y="5532120"/>
            <a:ext cx="2468880" cy="36576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54680" y="559612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AI 怎么审？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SKILL 把专家经验编码为方法论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4680" y="58064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不是泛泛说「找漏洞」，而是给出验证清单 + 反向思维 + 分级标准 + 工具使用指引
让 AI 像人类审计专家一样系统性地验证每个候选点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0" y="5532120"/>
            <a:ext cx="2468880" cy="11887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669280" y="5532120"/>
            <a:ext cx="2468880" cy="36576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0" y="559612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47EF6"/>
                </a:solidFill>
                <a:latin typeface="Microsoft YaHei"/>
              </a:rPr>
              <a:t>误报怎么降？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反馈闭环 + 二次复核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58064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用户经验以「代码先例 + 理由」注入 SKILL，AI 能泛化到相似新代码（非行号抑制）
FP Review 用独立 SKILL 做第二轮审查，双重过滤进一步降低误报率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